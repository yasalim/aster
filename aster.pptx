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Доля</c:v>
          </c:tx>
          <c:spPr>
            <a:solidFill>
              <a:srgbClr val="148A8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Data'!$A$2:$A$10</c:f>
              <c:strCache>
                <c:ptCount val="9"/>
                <c:pt idx="0">
                  <c:v>Осмотр</c:v>
                </c:pt>
                <c:pt idx="1">
                  <c:v>Первичная оценка</c:v>
                </c:pt>
                <c:pt idx="2">
                  <c:v>Клиент думает</c:v>
                </c:pt>
                <c:pt idx="3">
                  <c:v>Диагностика</c:v>
                </c:pt>
                <c:pt idx="4">
                  <c:v>Финальная оценка</c:v>
                </c:pt>
                <c:pt idx="5">
                  <c:v>Согласование РОВ</c:v>
                </c:pt>
                <c:pt idx="6">
                  <c:v>Подпись руководителя</c:v>
                </c:pt>
                <c:pt idx="7">
                  <c:v>ОСС</c:v>
                </c:pt>
                <c:pt idx="8">
                  <c:v>Выкуп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99.9</c:v>
                </c:pt>
                <c:pt idx="1">
                  <c:v>97.6</c:v>
                </c:pt>
                <c:pt idx="2">
                  <c:v>72.099999999999994</c:v>
                </c:pt>
                <c:pt idx="3">
                  <c:v>27</c:v>
                </c:pt>
                <c:pt idx="4">
                  <c:v>23.9</c:v>
                </c:pt>
                <c:pt idx="5">
                  <c:v>17.5</c:v>
                </c:pt>
                <c:pt idx="6">
                  <c:v>17.2</c:v>
                </c:pt>
                <c:pt idx="7">
                  <c:v>18.100000000000001</c:v>
                </c:pt>
                <c:pt idx="8">
                  <c:v>18.399999999999999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BBB-4286-88F2-EB17985226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0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Бейзлайн</c:v>
          </c:tx>
          <c:spPr>
            <a:solidFill>
              <a:srgbClr val="60708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Покрытие</c:v>
                </c:pt>
                <c:pt idx="1">
                  <c:v>Ширина вилки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26.99</c:v>
                </c:pt>
                <c:pt idx="1">
                  <c:v>24.19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4F9-4153-ADE6-F0480FD091CC}"/>
            </c:ext>
          </c:extLst>
        </c:ser>
        <c:ser>
          <c:idx val="1"/>
          <c:order val="1"/>
          <c:tx>
            <c:v>Модель</c:v>
          </c:tx>
          <c:spPr>
            <a:solidFill>
              <a:srgbClr val="148A8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7243A"/>
                    </a:solidFill>
                    <a:latin typeface="Arial"/>
                    <a:ea typeface="Arial"/>
                    <a:cs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Покрытие</c:v>
                </c:pt>
                <c:pt idx="1">
                  <c:v>Ширина вилки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38.03</c:v>
                </c:pt>
                <c:pt idx="1">
                  <c:v>19.7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4F9-4153-ADE6-F0480FD091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w="9525">
              <a:solidFill>
                <a:srgbClr val="D7E0EA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>
              <a:latin typeface="Arial"/>
              <a:ea typeface="Arial"/>
              <a:cs typeface="Arial"/>
            </a:defRPr>
          </a:pPr>
          <a:endParaRPr lang="ru-RU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notebooks/*.ipynb; experiments/booster_results.json; scripts/measure_latency.py; pytest tests.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notebooks/01_eda_and_data_diary.ipynb, ячейки 2, 8.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notebooks/01_eda_and_data_diary.ipynb, ячейка 4; src/feature_contract.py.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notebooks/01_eda_and_data_diary.ipynb, ячейки 6, 10, 12, 14.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notebooks/01_eda_and_data_diary.ipynb, ячейка 16.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src/funnel.py; notebooks/01_eda_and_data_diary.ipynb, ячейка 18; report.md.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src/funnel.py, фактический запуск 17.09.2026.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src/funnel.py, фактический запуск 17.09.2026.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src/funnel.py; assumptions.md; report.md.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notebooks/02_data_prep.ipynb; src/data_prep.py; src/feature_contract.py.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notebooks/02_data_prep.ipynb, ячейка 9; notebooks/03_price_band_model.ipynb, ячейки 2, 4.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notebooks/03_price_band_model.ipynb, ячейки 9, 11, 13, 19.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notebooks/03_price_band_model.ipynb, ячейки 15–19; src/pricing_model.py.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notebooks/03_price_band_model.ipynb, ячейка 21.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notebooks/03_price_band_model.ipynb, ячейка 22.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notebooks/03_price_band_model.ipynb, ячейка 25.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notebooks/03_price_band_model.ipynb, ячейка 27; report.md.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experiments/booster_results.json; experiments/compare_boosters.py; experiments/README.md.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scripts/measure_latency.py и фактический запуск 17.09.2026; tests/test_api.py; tests/test_feature_contract.py.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report.md, раздел Часть 4. Эксплуатация. Все расчеты и формулировки основаны на файлах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5DB5237-83FD-47E6-A6BD-1EE98D7D2A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EF0275E-0EEB-4229-9706-83F2995C6FC0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СВОДКА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6927C27-9070-41D3-B209-E0A32CE6C937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Охват источников и воспроизводимость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924F1B6-BA5F-4D00-A788-3FD783B7AC42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78FA993-78A6-4433-882F-EFCE8042C4F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29D71FA-1806-4343-B882-D5FC021BA4BA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2286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2365A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5A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35EC355-A7EF-4743-A976-DBA0F86E0426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исходных таблиц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99890E7-CCB3-46B3-B508-521666D09D9F}"/>
              </a:ext>
            </a:extLst>
          </p:cNvPr>
          <p:cNvSpPr>
            <a:spLocks noGrp="1"/>
          </p:cNvSpPr>
          <p:nvPr/>
        </p:nvSpPr>
        <p:spPr>
          <a:xfrm>
            <a:off x="3333750" y="17145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1,64 млн+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1B7949E-A1F0-4FFF-99D3-99437A68C2E0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строк во всех исходных таблицах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413AE87-51B7-4746-8B8D-3E91CEBC49BA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2780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7805C"/>
                </a:solidFill>
                <a:latin typeface="Arial"/>
                <a:ea typeface="Arial"/>
                <a:cs typeface="Arial"/>
              </a:rPr>
              <a:t>17 065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E79E04C-1A74-4127-9756-331939625FA5}"/>
              </a:ext>
            </a:extLst>
          </p:cNvPr>
          <p:cNvSpPr>
            <a:spLocks noGrp="1"/>
          </p:cNvSpPr>
          <p:nvPr/>
        </p:nvSpPr>
        <p:spPr>
          <a:xfrm>
            <a:off x="7239000" y="2362200"/>
            <a:ext cx="304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строк в leakage-safe датасете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3F569B-C1D2-4DBB-BCE0-32A8B6A980B1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2780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7805C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1D4765-16F8-4CFE-9208-00DE26243B18}"/>
              </a:ext>
            </a:extLst>
          </p:cNvPr>
          <p:cNvSpPr>
            <a:spLocks noGrp="1"/>
          </p:cNvSpPr>
          <p:nvPr/>
        </p:nvSpPr>
        <p:spPr>
          <a:xfrm>
            <a:off x="666750" y="4076700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автотестов пройдено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23985BB-5937-4470-B80C-3514778E5819}"/>
              </a:ext>
            </a:extLst>
          </p:cNvPr>
          <p:cNvSpPr>
            <a:spLocks noGrp="1"/>
          </p:cNvSpPr>
          <p:nvPr/>
        </p:nvSpPr>
        <p:spPr>
          <a:xfrm>
            <a:off x="3333750" y="3429000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2365A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5A8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B5BDEC3-9D8C-4D0F-9F5F-D23A0C0DB924}"/>
              </a:ext>
            </a:extLst>
          </p:cNvPr>
          <p:cNvSpPr>
            <a:spLocks noGrp="1"/>
          </p:cNvSpPr>
          <p:nvPr/>
        </p:nvSpPr>
        <p:spPr>
          <a:xfrm>
            <a:off x="3333750" y="4076700"/>
            <a:ext cx="304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warm-запросов latency-теста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5785F75-9E8A-4F62-AE99-44EFE41DE00B}"/>
              </a:ext>
            </a:extLst>
          </p:cNvPr>
          <p:cNvSpPr>
            <a:spLocks noGrp="1"/>
          </p:cNvSpPr>
          <p:nvPr/>
        </p:nvSpPr>
        <p:spPr>
          <a:xfrm>
            <a:off x="7239000" y="3429000"/>
            <a:ext cx="3143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D892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8922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DF411D4-C323-4075-83B4-4E2A02350271}"/>
              </a:ext>
            </a:extLst>
          </p:cNvPr>
          <p:cNvSpPr>
            <a:spLocks noGrp="1"/>
          </p:cNvSpPr>
          <p:nvPr/>
        </p:nvSpPr>
        <p:spPr>
          <a:xfrm>
            <a:off x="7239000" y="4076700"/>
            <a:ext cx="3143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квантильных бустинга сравнено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CA8F960-BA4D-4166-9AE9-2E7ECC8A50AC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10382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617"/>
          </a:bodyPr>
          <a:lstStyle/>
          <a:p>
            <a:pPr algn="l">
              <a:defRPr sz="15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Включены все опубликованные статистические выводы и числовые результаты вычислительных блоков.</a:t>
            </a:r>
          </a:p>
        </p:txBody>
      </p:sp>
    </p:spTree>
    <p:extLst>
      <p:ext uri="{BB962C8B-B14F-4D97-AF65-F5344CB8AC3E}">
        <p14:creationId xmlns:p14="http://schemas.microsoft.com/office/powerpoint/2010/main" val="1674268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5EDEB34-0143-4147-84CA-071D90010E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D4E1970-6593-475E-97CC-F95B83B5960D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EDA · БЛОК ЗАГРУЗКИ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63CB3E2-FAA4-4662-BF45-AFC83943F242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Размер и период исходных данных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30EAEE8-200D-48EF-935B-B96060C8F757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F4E7C95-185F-4347-9A24-01EF376DDD6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7" name="Таблица 16"/>
          <p:cNvGraphicFramePr/>
          <p:nvPr/>
        </p:nvGraphicFramePr>
        <p:xfrm>
          <a:off x="666750" y="1619250"/>
          <a:ext cx="6191250" cy="4095749"/>
        </p:xfrm>
        <a:graphic>
          <a:graphicData uri="http://schemas.openxmlformats.org/drawingml/2006/table">
            <a:tbl>
              <a:tblPr firstRow="1" band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Файл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Строк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Колонок / полей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evaluations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164 400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car_outcomes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27 426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market_kolesa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1 137 602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tech_inspection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1 497 772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stage_times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176 674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pricing_policy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CC4BD19-5311-44AA-A498-F64B13768F2E}"/>
              </a:ext>
            </a:extLst>
          </p:cNvPr>
          <p:cNvSpPr>
            <a:spLocks noGrp="1"/>
          </p:cNvSpPr>
          <p:nvPr/>
        </p:nvSpPr>
        <p:spPr>
          <a:xfrm>
            <a:off x="7429500" y="1666875"/>
            <a:ext cx="3714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01.09.2024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5FFAB8-033B-4FD9-A393-6E5B88379098}"/>
              </a:ext>
            </a:extLst>
          </p:cNvPr>
          <p:cNvSpPr>
            <a:spLocks noGrp="1"/>
          </p:cNvSpPr>
          <p:nvPr/>
        </p:nvSpPr>
        <p:spPr>
          <a:xfrm>
            <a:off x="7429500" y="2314575"/>
            <a:ext cx="3714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начало evaluations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3CB8083-6FA7-43F7-8B55-CF87DE4F0880}"/>
              </a:ext>
            </a:extLst>
          </p:cNvPr>
          <p:cNvSpPr>
            <a:spLocks noGrp="1"/>
          </p:cNvSpPr>
          <p:nvPr/>
        </p:nvSpPr>
        <p:spPr>
          <a:xfrm>
            <a:off x="7429500" y="3000375"/>
            <a:ext cx="3714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07.09.2026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68034B3-0CBA-49A6-924D-3BD3DFFC8B4C}"/>
              </a:ext>
            </a:extLst>
          </p:cNvPr>
          <p:cNvSpPr>
            <a:spLocks noGrp="1"/>
          </p:cNvSpPr>
          <p:nvPr/>
        </p:nvSpPr>
        <p:spPr>
          <a:xfrm>
            <a:off x="7429500" y="3648075"/>
            <a:ext cx="3714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конец evaluations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E12816B-DF41-4388-8DB3-958436BCE89A}"/>
              </a:ext>
            </a:extLst>
          </p:cNvPr>
          <p:cNvSpPr>
            <a:spLocks noGrp="1"/>
          </p:cNvSpPr>
          <p:nvPr/>
        </p:nvSpPr>
        <p:spPr>
          <a:xfrm>
            <a:off x="7429500" y="4524375"/>
            <a:ext cx="37147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B646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6464A"/>
                </a:solidFill>
                <a:latin typeface="Arial"/>
                <a:ea typeface="Arial"/>
                <a:cs typeface="Arial"/>
              </a:rPr>
              <a:t>tech_inspection покрывает только 27.07–07.09.2026, около 6 недель из двух лет.</a:t>
            </a:r>
          </a:p>
        </p:txBody>
      </p:sp>
    </p:spTree>
    <p:extLst>
      <p:ext uri="{BB962C8B-B14F-4D97-AF65-F5344CB8AC3E}">
        <p14:creationId xmlns:p14="http://schemas.microsoft.com/office/powerpoint/2010/main" val="173275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337E55C-14E4-4818-8B1F-E19F538708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6A315B1-AC04-464B-A2F8-4BA070AD355C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EDA · НАХОДКА 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6BBACA7-B9FE-40F5-B976-B84F2B30CB2F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Заполненность ценовой цепочки показывает утечку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10F47DF-7F93-4C96-ACF8-40628B1C5225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B385B4-06D2-4A5F-8850-F3F62C65B3B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666750" y="1619250"/>
          <a:ext cx="7524750" cy="4000500"/>
        </p:xfrm>
        <a:graphic>
          <a:graphicData uri="http://schemas.openxmlformats.org/drawingml/2006/table">
            <a:tbl>
              <a:tblPr firstRow="1" bandRow="1"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 выкупе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Без выкупа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first_pricer_buy_price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99,78%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98,50%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second_pricer_buy_price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99,80%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8,45%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confirmed_pricer_buy_price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99,73%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8,45%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confirmed_rgv_buy_price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99,18%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1,21%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rov_buy_price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99,78%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1,20%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head_branch_buy_price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99,79%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1,07%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429FEDB-5F5F-4326-9AD6-A11A676708BA}"/>
              </a:ext>
            </a:extLst>
          </p:cNvPr>
          <p:cNvSpPr>
            <a:spLocks noGrp="1"/>
          </p:cNvSpPr>
          <p:nvPr/>
        </p:nvSpPr>
        <p:spPr>
          <a:xfrm>
            <a:off x="8667750" y="1952625"/>
            <a:ext cx="266700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3"/>
          </a:bodyPr>
          <a:lstStyle/>
          <a:p>
            <a:pPr algn="l">
              <a:defRPr sz="1650" b="1">
                <a:solidFill>
                  <a:srgbClr val="B646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6464A"/>
                </a:solidFill>
                <a:latin typeface="Arial"/>
                <a:ea typeface="Arial"/>
                <a:cs typeface="Arial"/>
              </a:rPr>
              <a:t>Поля после первой цены почти однозначно кодируют исход сделки. Все шесть полей исключены из модели.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3FC95D5-67AC-4AD5-BB68-2C8751A69B09}"/>
              </a:ext>
            </a:extLst>
          </p:cNvPr>
          <p:cNvSpPr>
            <a:spLocks noGrp="1"/>
          </p:cNvSpPr>
          <p:nvPr/>
        </p:nvSpPr>
        <p:spPr>
          <a:xfrm>
            <a:off x="8667750" y="3905250"/>
            <a:ext cx="2381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B646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6464A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4CC21E4-53E0-4CF7-9E78-33EDC537D39A}"/>
              </a:ext>
            </a:extLst>
          </p:cNvPr>
          <p:cNvSpPr>
            <a:spLocks noGrp="1"/>
          </p:cNvSpPr>
          <p:nvPr/>
        </p:nvSpPr>
        <p:spPr>
          <a:xfrm>
            <a:off x="8667750" y="455295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запрещенных поля</a:t>
            </a:r>
          </a:p>
        </p:txBody>
      </p:sp>
    </p:spTree>
    <p:extLst>
      <p:ext uri="{BB962C8B-B14F-4D97-AF65-F5344CB8AC3E}">
        <p14:creationId xmlns:p14="http://schemas.microsoft.com/office/powerpoint/2010/main" val="774882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DA0775-39CF-4AF3-A5A3-7582F589FA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7066940-AECD-4D33-B364-8F20CD1B780C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EDA · НАХОДКИ 2, 4, 5, 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0C7549F-93BD-4DE9-A0A1-A5E5B2B9055C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Пустые поля, рыночные квантили и состояние авто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2F1070A-2954-4AB2-9CA9-52979F304685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38F524B-A0D3-433F-B817-E9BC4986BCE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3" name="Таблица 12"/>
          <p:cNvGraphicFramePr/>
          <p:nvPr/>
        </p:nvGraphicFramePr>
        <p:xfrm>
          <a:off x="666750" y="1619250"/>
          <a:ext cx="6000750" cy="4095752"/>
        </p:xfrm>
        <a:graphic>
          <a:graphicData uri="http://schemas.openxmlformats.org/drawingml/2006/table">
            <a:tbl>
              <a:tblPr firstRow="1" bandRow="1"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Значение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Полностью пустые поля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 из 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market avg_price заполнено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100,0%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market median/q1/q3 заполнено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2,4% каждое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market stdev_price_avg заполнено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29,7%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Медиана ads_cnt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GM2 &lt; 0 в car_outcomes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11,34%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Период date_buy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01.09.2024–07.09.2026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/>
          <p:nvPr/>
        </p:nvGraphicFramePr>
        <p:xfrm>
          <a:off x="7143750" y="1619250"/>
          <a:ext cx="4191000" cy="4095749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total_car_state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Строк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Среднее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77 104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Хорошее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43 047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Плохое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25 927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Отличное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10 450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Ужасное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6 306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NaN / 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1 563 / 3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70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755BE25-BB6D-4399-BFE8-2BAB07A5AE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BAC98E-633D-404F-8BCD-B811D3EBF366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EDA · НАХОДКИ 7 И 11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DEBACF4-81A9-44FC-822C-DC7B724BBDF8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Выкупы, исходы и скоуп модели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0F6FBF-1E78-4532-98CD-177FB4A311D8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3578316-2739-4607-9805-77DBEBC93D9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F75DFB7-88E8-42AD-8EA7-B16BC49E4ADC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2365A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5A8"/>
                </a:solidFill>
                <a:latin typeface="Arial"/>
                <a:ea typeface="Arial"/>
                <a:cs typeface="Arial"/>
              </a:rPr>
              <a:t>30 188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F71CB4F-F214-4E55-A6F9-EBFD187B6AC3}"/>
              </a:ext>
            </a:extLst>
          </p:cNvPr>
          <p:cNvSpPr>
            <a:spLocks noGrp="1"/>
          </p:cNvSpPr>
          <p:nvPr/>
        </p:nvSpPr>
        <p:spPr>
          <a:xfrm>
            <a:off x="666750" y="2314575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всего выкупов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0FDFD5D-A99C-451B-9367-48F81ADD1399}"/>
              </a:ext>
            </a:extLst>
          </p:cNvPr>
          <p:cNvSpPr>
            <a:spLocks noGrp="1"/>
          </p:cNvSpPr>
          <p:nvPr/>
        </p:nvSpPr>
        <p:spPr>
          <a:xfrm>
            <a:off x="3429000" y="166687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21 787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4A6279D-0136-4277-A2C3-4BB52E567419}"/>
              </a:ext>
            </a:extLst>
          </p:cNvPr>
          <p:cNvSpPr>
            <a:spLocks noGrp="1"/>
          </p:cNvSpPr>
          <p:nvPr/>
        </p:nvSpPr>
        <p:spPr>
          <a:xfrm>
            <a:off x="3429000" y="2314575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найдены в car_outcomes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657762-D738-4F09-A300-DD33DFC609F7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3143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2780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7805C"/>
                </a:solidFill>
                <a:latin typeface="Arial"/>
                <a:ea typeface="Arial"/>
                <a:cs typeface="Arial"/>
              </a:rPr>
              <a:t>72,2%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FA9DEBA-2A3B-4B17-BC11-4165E34EE4B7}"/>
              </a:ext>
            </a:extLst>
          </p:cNvPr>
          <p:cNvSpPr>
            <a:spLocks noGrp="1"/>
          </p:cNvSpPr>
          <p:nvPr/>
        </p:nvSpPr>
        <p:spPr>
          <a:xfrm>
            <a:off x="6667500" y="2314575"/>
            <a:ext cx="3143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покрытие join по deal_key</a:t>
            </a:r>
          </a:p>
        </p:txBody>
      </p:sp>
      <p:graphicFrame>
        <p:nvGraphicFramePr>
          <p:cNvPr id="25" name="Таблица 24"/>
          <p:cNvGraphicFramePr/>
          <p:nvPr/>
        </p:nvGraphicFramePr>
        <p:xfrm>
          <a:off x="666750" y="3333750"/>
          <a:ext cx="7239000" cy="2619372"/>
        </p:xfrm>
        <a:graphic>
          <a:graphicData uri="http://schemas.openxmlformats.org/drawingml/2006/table">
            <a:tbl>
              <a:tblPr firstRow="1" bandRow="1"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1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Состав transaction_group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Не найдено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Найдено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commission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52,9%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8,7%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purchase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27,4%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47,2%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trade_in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16,1%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trade_up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6,9%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16,6%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196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back_purch / damu / overauto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2,0%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4,2%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190B128-0231-4C64-AE02-18308BA9C879}"/>
              </a:ext>
            </a:extLst>
          </p:cNvPr>
          <p:cNvSpPr>
            <a:spLocks noGrp="1"/>
          </p:cNvSpPr>
          <p:nvPr/>
        </p:nvSpPr>
        <p:spPr>
          <a:xfrm>
            <a:off x="8382000" y="3619500"/>
            <a:ext cx="28575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101"/>
          </a:bodyPr>
          <a:lstStyle/>
          <a:p>
            <a:pPr algn="l">
              <a:defRPr sz="172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Модель обучается только на purchase, trade_in и trade_up.</a:t>
            </a:r>
          </a:p>
        </p:txBody>
      </p:sp>
    </p:spTree>
    <p:extLst>
      <p:ext uri="{BB962C8B-B14F-4D97-AF65-F5344CB8AC3E}">
        <p14:creationId xmlns:p14="http://schemas.microsoft.com/office/powerpoint/2010/main" val="158970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0567426-5CA2-4317-A502-4A23472AD5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73752FA-F8D0-46FC-9D0A-31F7BBE44DC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ВОРОНКА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BC5D7E4-2705-43DA-B9CA-538E024CC504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Конверсия этапов процесса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8785039-21CF-4C20-AF73-C23BAB44547B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9A520BD-3A26-4CA9-9D3D-B9BEBD7A0CC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619125" y="1571625"/>
          <a:ext cx="723900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456BD0E-A73A-4FF2-A54A-22DB15035A6F}"/>
              </a:ext>
            </a:extLst>
          </p:cNvPr>
          <p:cNvSpPr>
            <a:spLocks noGrp="1"/>
          </p:cNvSpPr>
          <p:nvPr/>
        </p:nvSpPr>
        <p:spPr>
          <a:xfrm>
            <a:off x="8382000" y="1857375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2780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7805C"/>
                </a:solidFill>
                <a:latin typeface="Arial"/>
                <a:ea typeface="Arial"/>
                <a:cs typeface="Arial"/>
              </a:rPr>
              <a:t>18,4%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0475DB8-D9F6-4F54-82A5-17F907AEEF23}"/>
              </a:ext>
            </a:extLst>
          </p:cNvPr>
          <p:cNvSpPr>
            <a:spLocks noGrp="1"/>
          </p:cNvSpPr>
          <p:nvPr/>
        </p:nvSpPr>
        <p:spPr>
          <a:xfrm>
            <a:off x="8382000" y="2505075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оценок завершились выкупом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9A0A889-240F-405C-85FF-D711CE0541FF}"/>
              </a:ext>
            </a:extLst>
          </p:cNvPr>
          <p:cNvSpPr>
            <a:spLocks noGrp="1"/>
          </p:cNvSpPr>
          <p:nvPr/>
        </p:nvSpPr>
        <p:spPr>
          <a:xfrm>
            <a:off x="8382000" y="33337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B646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6464A"/>
                </a:solidFill>
                <a:latin typeface="Arial"/>
                <a:ea typeface="Arial"/>
                <a:cs typeface="Arial"/>
              </a:rPr>
              <a:t>99,3%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E75F38F-A892-43BB-A480-6FCAA80213D4}"/>
              </a:ext>
            </a:extLst>
          </p:cNvPr>
          <p:cNvSpPr>
            <a:spLocks noGrp="1"/>
          </p:cNvSpPr>
          <p:nvPr/>
        </p:nvSpPr>
        <p:spPr>
          <a:xfrm>
            <a:off x="8382000" y="398145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достигли deal_completed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0B5069-1BAA-4301-8DF8-45862EFD7EF3}"/>
              </a:ext>
            </a:extLst>
          </p:cNvPr>
          <p:cNvSpPr>
            <a:spLocks noGrp="1"/>
          </p:cNvSpPr>
          <p:nvPr/>
        </p:nvSpPr>
        <p:spPr>
          <a:xfrm>
            <a:off x="8382000" y="4762500"/>
            <a:ext cx="28575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deal_completed означает закрытие процесса при любом исходе.</a:t>
            </a:r>
          </a:p>
        </p:txBody>
      </p:sp>
    </p:spTree>
    <p:extLst>
      <p:ext uri="{BB962C8B-B14F-4D97-AF65-F5344CB8AC3E}">
        <p14:creationId xmlns:p14="http://schemas.microsoft.com/office/powerpoint/2010/main" val="2048076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33BB899-7930-432F-9523-E8BA235100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586722A-7575-4291-9583-5975420C3A56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ВОРОНКА · ПРИЛОЖЕНИЕ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FDA8220-53F8-4FA6-9A53-41974F4EF508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Все этапы воронки: начало и диагностика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5F7005-BED7-47FC-85B4-6B7244D46B6C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5101CFF-E834-43F7-8EE2-D46B0E38C30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2" name="Таблица 11"/>
          <p:cNvGraphicFramePr/>
          <p:nvPr/>
        </p:nvGraphicFramePr>
        <p:xfrm>
          <a:off x="523875" y="1476375"/>
          <a:ext cx="10763250" cy="4619628"/>
        </p:xfrm>
        <a:graphic>
          <a:graphicData uri="http://schemas.openxmlformats.org/drawingml/2006/table">
            <a:tbl>
              <a:tblPr firstRow="1" bandRow="1"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35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Дошли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Доля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Медиана, мин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p95, мин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initial_inspection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176 494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99,90%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3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on_complete_for_init_inspection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24 076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13,63%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3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first_check_eval_rgv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0,02%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3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initial_evaluation_queue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172 490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97,63%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3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initial_evaluation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172 470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97,62%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3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first_eval_approve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32 726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18,52%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148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3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rework_first_check_eval_rgv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0,01%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74,85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3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initial_evaluation_completed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172 753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97,78%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13 197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3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client_thinking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127 415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72,12%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13 366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20 591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3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queue_for_mp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50 206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28,42%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773,75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3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test_drive_mp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48 092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27,22%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356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on_diagnostics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47 662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26,98%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169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111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B2BC71-459A-42C9-BEFF-5D65CAB367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4ED0D3-800B-4E90-9452-43F72B80656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ВОРОНКА · ПРИЛОЖЕНИЕ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81B5221-6CC0-45B4-9E0C-4597035AF295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Все этапы воронки: оценка и оформление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76FA2B0-D637-44FC-8482-57A3A45B4D7F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CA23089-C8AD-42EE-A011-513329CB2F6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2" name="Таблица 11"/>
          <p:cNvGraphicFramePr/>
          <p:nvPr/>
        </p:nvGraphicFramePr>
        <p:xfrm>
          <a:off x="523875" y="1381125"/>
          <a:ext cx="10763250" cy="4857748"/>
        </p:xfrm>
        <a:graphic>
          <a:graphicData uri="http://schemas.openxmlformats.org/drawingml/2006/table">
            <a:tbl>
              <a:tblPr firstRow="1" bandRow="1"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98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Дошли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Доля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Медиана, мин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p95, мин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cost_estimatation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46 707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26,44%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final_evaluation_mov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324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0,18%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13 216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final_evaluation_rgv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46 239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26,17%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9 567,7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queue_for_final_evaluation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42 259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23,92%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at_the_final_evaluation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42 247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23,91%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final_evaluation_completed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42 128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23,85%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final_evaluation_on_approval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42 133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23,85%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deal_to_approve_by_rgv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42 202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23,89%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13 501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deal_to_approve_by_rov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30 941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17,51%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sign_by_head_manager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30 442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17,23%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on_oss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31 923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18,07%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5 260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deal_completed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175 369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99,26%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criminalist_check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44 629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25,26%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3 401,2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857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4769824-A360-404A-8AF0-A7574F7001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793B20-8E4F-40D4-A60F-AA6A07874E1A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ВОРОНКА · ДЛИТЕЛЬНОСТЬ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1E74484-DFDC-488A-BA5F-43299CF8CE78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Состоявшиеся сделки завершаются почти в 8 раз быстрее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09B1C3F-BC85-4B6A-BF8B-556E86D5F991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2521A43-82BF-42A8-A94C-74B57D2F495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666750" y="1809750"/>
          <a:ext cx="8191500" cy="2476500"/>
        </p:xfrm>
        <a:graphic>
          <a:graphicData uri="http://schemas.openxmlformats.org/drawingml/2006/table">
            <a:tbl>
              <a:tblPr firstRow="1" band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Медиана, дней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p95, дней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Все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163 878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14,48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Выкуп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30 113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1,15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9,04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Без выкупа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133 765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9,39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15,54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AB263C-38ED-4AED-8710-B1A3006E9D0F}"/>
              </a:ext>
            </a:extLst>
          </p:cNvPr>
          <p:cNvSpPr>
            <a:spLocks noGrp="1"/>
          </p:cNvSpPr>
          <p:nvPr/>
        </p:nvSpPr>
        <p:spPr>
          <a:xfrm>
            <a:off x="8382000" y="190500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D892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8922E"/>
                </a:solidFill>
                <a:latin typeface="Arial"/>
                <a:ea typeface="Arial"/>
                <a:cs typeface="Arial"/>
              </a:rPr>
              <a:t>15 дней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EC2626-018A-43E9-AB0B-58747B6C7786}"/>
              </a:ext>
            </a:extLst>
          </p:cNvPr>
          <p:cNvSpPr>
            <a:spLocks noGrp="1"/>
          </p:cNvSpPr>
          <p:nvPr/>
        </p:nvSpPr>
        <p:spPr>
          <a:xfrm>
            <a:off x="8382000" y="255270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порог отсечения незрелого хвоста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EFCB115-FFF8-4C51-B5D1-214CD82FBB61}"/>
              </a:ext>
            </a:extLst>
          </p:cNvPr>
          <p:cNvSpPr>
            <a:spLocks noGrp="1"/>
          </p:cNvSpPr>
          <p:nvPr/>
        </p:nvSpPr>
        <p:spPr>
          <a:xfrm>
            <a:off x="8382000" y="3714750"/>
            <a:ext cx="285750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Основная задержка связана с client_thinking: медиана 13 366 минут, или 9,28 дня.</a:t>
            </a:r>
          </a:p>
        </p:txBody>
      </p:sp>
    </p:spTree>
    <p:extLst>
      <p:ext uri="{BB962C8B-B14F-4D97-AF65-F5344CB8AC3E}">
        <p14:creationId xmlns:p14="http://schemas.microsoft.com/office/powerpoint/2010/main" val="820876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8AF5626-C47A-42C0-9130-9288B951D3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A3CC64A-374F-482C-9FE1-B339BCD17AD7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DATA PREP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9256B5B-8DA9-4692-A82B-FFF374C3A7F2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Подготовка leakage-safe датасета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74AB6B-E622-466F-9D2D-467FD9593E07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197AEEF-8F6C-4816-9B0A-AA1029CD39FE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4" name="Таблица 13"/>
          <p:cNvGraphicFramePr/>
          <p:nvPr/>
        </p:nvGraphicFramePr>
        <p:xfrm>
          <a:off x="666750" y="1666875"/>
          <a:ext cx="6667500" cy="3238500"/>
        </p:xfrm>
        <a:graphic>
          <a:graphicData uri="http://schemas.openxmlformats.org/drawingml/2006/table">
            <a:tbl>
              <a:tblPr firstRow="1" bandRow="1"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Шаг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Строк / доля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evaluations всего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164 400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Скоуп + возраст &gt;15 дней + выкуп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20 568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Найден исход в car_outcomes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17 065 (83,0%)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Итоговая форма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17 065 × 33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Допустимые / запрещенные / мертвые признаки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30 / 34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/>
          <p:nvPr/>
        </p:nvGraphicFramePr>
        <p:xfrm>
          <a:off x="7810500" y="1666875"/>
          <a:ext cx="3619500" cy="3238501"/>
        </p:xfrm>
        <a:graphic>
          <a:graphicData uri="http://schemas.openxmlformats.org/drawingml/2006/table">
            <a:tbl>
              <a:tblPr firstRow="1" bandRow="1"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Пропуски в итоговом датасете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Доля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market median/q1/q3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100,0%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on_guarantee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28,47%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keys_count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22,35%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market avg/ads/mileage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19,15%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car_category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3,65%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generation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2,45%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9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DA69789-0082-4361-8028-BE498F4040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43BCBD-C2C7-4D57-8381-EF592D968ACF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МОДЕЛЬ · ДАННЫЕ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338FB5-6253-40AE-B523-5FEA91FF2C54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Таргет и временной split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07B2DC-A7E5-431B-864A-BB8BEE34E62E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DAFCFD-53B3-4F78-BC0B-C8EE7D8577F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3" name="Таблица 12"/>
          <p:cNvGraphicFramePr/>
          <p:nvPr/>
        </p:nvGraphicFramePr>
        <p:xfrm>
          <a:off x="666750" y="1571625"/>
          <a:ext cx="5619750" cy="3810002"/>
        </p:xfrm>
        <a:graphic>
          <a:graphicData uri="http://schemas.openxmlformats.org/drawingml/2006/table">
            <a:tbl>
              <a:tblPr firstRow="1" bandRow="1"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buy_price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Значение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17 065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Среднее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4 893 182 KZT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Стандартное отклонение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3 263 273 KZT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Минимум / максимум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1 000 / 51 000 000 KZT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Q1 / медиана / 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2,6 / 4,4 / 6,6 млн KZT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GM2 &lt; 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10,77%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/>
          <p:nvPr/>
        </p:nvGraphicFramePr>
        <p:xfrm>
          <a:off x="6762750" y="1571625"/>
          <a:ext cx="4667250" cy="3810000"/>
        </p:xfrm>
        <a:graphic>
          <a:graphicData uri="http://schemas.openxmlformats.org/drawingml/2006/table">
            <a:tbl>
              <a:tblPr firstRow="1" bandRow="1"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Time-based split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Значение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Cutoff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02.04.2026 16:28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13 652 (80%)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3 413 (20%)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Train period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01.09.2024–02.04.2026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Test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02.04.2026–23.08.2026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921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03EBA69-F569-4B67-AC0E-67E161DCAC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1A27602-88CE-4AD9-A446-C3CFD2731220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МОДЕЛЬ · КАЧЕСТВО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4071E1-CCEB-4F15-9677-35C79FC34402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Квантильная модель улучшила покрытие и сузила вилку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A69EAAF-D57C-4A13-A280-EEAD76F83525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91CCCF-5185-4A50-BC56-43CC62C7BE3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571500" y="1619250"/>
          <a:ext cx="66675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EA97B86-78D5-4819-898A-F3E66D0B2CB7}"/>
              </a:ext>
            </a:extLst>
          </p:cNvPr>
          <p:cNvSpPr>
            <a:spLocks noGrp="1"/>
          </p:cNvSpPr>
          <p:nvPr/>
        </p:nvSpPr>
        <p:spPr>
          <a:xfrm>
            <a:off x="7810500" y="1666875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905 000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98C5249-36AE-424A-844F-1926E139E73C}"/>
              </a:ext>
            </a:extLst>
          </p:cNvPr>
          <p:cNvSpPr>
            <a:spLocks noGrp="1"/>
          </p:cNvSpPr>
          <p:nvPr/>
        </p:nvSpPr>
        <p:spPr>
          <a:xfrm>
            <a:off x="7810500" y="2314575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медианная ширина бейзлайна, KZT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5280370-E8B3-4953-BE84-56DAEC1B88E7}"/>
              </a:ext>
            </a:extLst>
          </p:cNvPr>
          <p:cNvSpPr>
            <a:spLocks noGrp="1"/>
          </p:cNvSpPr>
          <p:nvPr/>
        </p:nvSpPr>
        <p:spPr>
          <a:xfrm>
            <a:off x="7810500" y="314325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670 631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5F976A9-6355-4319-9401-7BA9BAEE0CBA}"/>
              </a:ext>
            </a:extLst>
          </p:cNvPr>
          <p:cNvSpPr>
            <a:spLocks noGrp="1"/>
          </p:cNvSpPr>
          <p:nvPr/>
        </p:nvSpPr>
        <p:spPr>
          <a:xfrm>
            <a:off x="7810500" y="3790950"/>
            <a:ext cx="3333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медианная ширина модели, KZT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4BC01DE-76CC-4C5B-AF13-96B846F7266E}"/>
              </a:ext>
            </a:extLst>
          </p:cNvPr>
          <p:cNvSpPr>
            <a:spLocks noGrp="1"/>
          </p:cNvSpPr>
          <p:nvPr/>
        </p:nvSpPr>
        <p:spPr>
          <a:xfrm>
            <a:off x="7810500" y="4714875"/>
            <a:ext cx="333375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593"/>
          </a:bodyPr>
          <a:lstStyle/>
          <a:p>
            <a:pPr algn="l">
              <a:defRPr sz="13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Сырая сегментация давала 8,32% покрытия. Поправка на маржу подняла совпадение сегмента с 18,31% до 47,93% и покрытие до 26,99%.</a:t>
            </a:r>
          </a:p>
        </p:txBody>
      </p:sp>
    </p:spTree>
    <p:extLst>
      <p:ext uri="{BB962C8B-B14F-4D97-AF65-F5344CB8AC3E}">
        <p14:creationId xmlns:p14="http://schemas.microsoft.com/office/powerpoint/2010/main" val="724853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2771BB-4177-4323-8790-2A71D073A1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F68B13-EF98-4DD9-8D0D-6232D4D194E1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МОДЕЛЬ · КОНФИГУРАЦИЯ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D20A1C9-87DB-4AFB-826E-A09C4D9281E4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Параметры квантильной модели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5D8F1DA-ACF4-449C-B84C-15D59AE0B44B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705EA26-AD6E-4238-A581-31A377FBC23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5" name="Таблица 14"/>
          <p:cNvGraphicFramePr/>
          <p:nvPr/>
        </p:nvGraphicFramePr>
        <p:xfrm>
          <a:off x="666750" y="1524000"/>
          <a:ext cx="7239000" cy="4286250"/>
        </p:xfrm>
        <a:graphic>
          <a:graphicData uri="http://schemas.openxmlformats.org/drawingml/2006/table">
            <a:tbl>
              <a:tblPr firstRow="1" bandRow="1"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Параметр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Значение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Интервал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q25 / q75, номинально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Признаки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26, включая month_idx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Нативные категориальные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13; max cardinality 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Target encoding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model и generation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Кардинальность model /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748 / 1 534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Smoothing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HistGradientBoosting max_iter /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300 / 0,05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Пересечения q25 &gt; q75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59 случаев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Таргет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log(buy_price)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6F5ADAA-C444-4839-9CCC-A1BCF836351B}"/>
              </a:ext>
            </a:extLst>
          </p:cNvPr>
          <p:cNvSpPr>
            <a:spLocks noGrp="1"/>
          </p:cNvSpPr>
          <p:nvPr/>
        </p:nvSpPr>
        <p:spPr>
          <a:xfrm>
            <a:off x="8382000" y="2095500"/>
            <a:ext cx="2857500" cy="1524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037"/>
          </a:bodyPr>
          <a:lstStyle/>
          <a:p>
            <a:pPr algn="l">
              <a:defRPr sz="1800" b="1">
                <a:solidFill>
                  <a:srgbClr val="B646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6464A"/>
                </a:solidFill>
                <a:latin typeface="Arial"/>
                <a:ea typeface="Arial"/>
                <a:cs typeface="Arial"/>
              </a:rPr>
              <a:t>Результат ниже номинального покрытия 50%, поэтому автоматическое ценовое решение не рекомендовано.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A6D4E1C-CA39-418A-A4C6-04AD3EBCF9D6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38,03%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0D54012-D739-4891-AE64-274092688874}"/>
              </a:ext>
            </a:extLst>
          </p:cNvPr>
          <p:cNvSpPr>
            <a:spLocks noGrp="1"/>
          </p:cNvSpPr>
          <p:nvPr/>
        </p:nvSpPr>
        <p:spPr>
          <a:xfrm>
            <a:off x="8382000" y="4743450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фактическое покрытие</a:t>
            </a:r>
          </a:p>
        </p:txBody>
      </p:sp>
    </p:spTree>
    <p:extLst>
      <p:ext uri="{BB962C8B-B14F-4D97-AF65-F5344CB8AC3E}">
        <p14:creationId xmlns:p14="http://schemas.microsoft.com/office/powerpoint/2010/main" val="661927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EEEB328-629C-4727-A8FC-BD5A759500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851C9EA-1092-4D0E-902F-54E397A30B1F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МОДЕЛЬ · СРЕЗЫ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04ED34D-A9D4-46D4-A2F3-997B172A84CE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Качество по ценовым сегментам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370147A-B736-454F-8C1B-BDA6C6660DBE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5A12DD5-4DEC-4E62-9D9A-96F96DC13E9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3" name="Таблица 12"/>
          <p:cNvGraphicFramePr/>
          <p:nvPr/>
        </p:nvGraphicFramePr>
        <p:xfrm>
          <a:off x="523875" y="1524000"/>
          <a:ext cx="11144250" cy="4095747"/>
        </p:xfrm>
        <a:graphic>
          <a:graphicData uri="http://schemas.openxmlformats.org/drawingml/2006/table">
            <a:tbl>
              <a:tblPr firstRow="1" band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508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Сегмент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Бейзлайн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 APE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Смещение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41,7%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41,7%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36,8%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+2,0%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484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38,4%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28,7%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25,6%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+10,9%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1 009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43,9%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35,0%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10,9%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+5,9%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543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41,3%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26,0%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9,8%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+5,7%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39,9%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35,7%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+1,5%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155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37,4%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18,7%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6,5%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−0,5%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40,2%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26,8%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−0,5%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23,6%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16,7%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11,8%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−2,8%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4D5D23B-BF93-4AEA-AC3B-E803B7880012}"/>
              </a:ext>
            </a:extLst>
          </p:cNvPr>
          <p:cNvSpPr>
            <a:spLocks noGrp="1"/>
          </p:cNvSpPr>
          <p:nvPr/>
        </p:nvSpPr>
        <p:spPr>
          <a:xfrm>
            <a:off x="666750" y="58578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B646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6464A"/>
                </a:solidFill>
                <a:latin typeface="Arial"/>
                <a:ea typeface="Arial"/>
                <a:cs typeface="Arial"/>
              </a:rPr>
              <a:t>Самое низкое покрытие у сегмента 8. В сегменте 1 высокая абсолютная ошибка, несмотря на покрытие 41,7%.</a:t>
            </a:r>
          </a:p>
        </p:txBody>
      </p:sp>
    </p:spTree>
    <p:extLst>
      <p:ext uri="{BB962C8B-B14F-4D97-AF65-F5344CB8AC3E}">
        <p14:creationId xmlns:p14="http://schemas.microsoft.com/office/powerpoint/2010/main" val="999501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3B71A96-EC25-4FB7-AF01-166CCA183A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301403B-84AE-4661-8A3E-9CC37BC7CA6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МОДЕЛЬ · СРЕЗЫ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0562A35-DD50-40BA-8083-CE6E65F52910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Лучшие и худшие марки по покрытию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EDA543D-A3F7-4428-BD6D-A1D6729FE4B8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3E9E4C4-D6DF-432D-93A4-CC695A962DF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3" name="Таблица 12"/>
          <p:cNvGraphicFramePr/>
          <p:nvPr/>
        </p:nvGraphicFramePr>
        <p:xfrm>
          <a:off x="523875" y="1571625"/>
          <a:ext cx="11144250" cy="209550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Худшие, n≥30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Покрытие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Бейзлайн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 APE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Смещение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OMODA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12,9%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16,6%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+16,2%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Audi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65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26,2%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20,0%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25,5%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+1,3%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Mitsubishi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30,1%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35,0%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14,4%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+4,0%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Mercedes-Benz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109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33,9%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16,5%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18,8%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+1,2%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Skoda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34,1%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22,0%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14,4%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+2,4%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/>
          <p:nvPr/>
        </p:nvGraphicFramePr>
        <p:xfrm>
          <a:off x="523875" y="4000500"/>
          <a:ext cx="11144250" cy="209550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Лучшие, n≥30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Покрытие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Бейзлайн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 APE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Смещение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Nissan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45,6%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40,7%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10,6%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+4,0%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Renault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126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46,0%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31,0%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11,3%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+11,0%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Chery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50,0%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53,1%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7,2%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+4,7%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Changan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53,3%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33,3%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8,6%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+5,4%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Daewoo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55,3%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18,4%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16,9%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+4,8%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246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E8706B0-4F48-4F65-8F40-1CCD53152B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0D3B4DC-24EB-49A8-A08E-A5471F68C9F1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БИЗНЕС-ЭФФЕКТ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03CF34C-090B-431B-95E4-07F7FCE4FCA8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Исторический midpoint-backtest дает стоп-сигнал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FFAEE9F-5325-485C-AC70-5D152C7979E6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F71EB69-5915-4B98-93E7-A72C7F9728F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E496F4-9DC0-42A3-A866-508C42E37A99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2952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2365A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5A8"/>
                </a:solidFill>
                <a:latin typeface="Arial"/>
                <a:ea typeface="Arial"/>
                <a:cs typeface="Arial"/>
              </a:rPr>
              <a:t>2 043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5024E1-8E5B-4DE5-91A0-54CD74BDF5FB}"/>
              </a:ext>
            </a:extLst>
          </p:cNvPr>
          <p:cNvSpPr>
            <a:spLocks noGrp="1"/>
          </p:cNvSpPr>
          <p:nvPr/>
        </p:nvSpPr>
        <p:spPr>
          <a:xfrm>
            <a:off x="666750" y="231457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сделки за 23.05–23.08.2026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0593374-4A57-4760-8324-941AB610509F}"/>
              </a:ext>
            </a:extLst>
          </p:cNvPr>
          <p:cNvSpPr>
            <a:spLocks noGrp="1"/>
          </p:cNvSpPr>
          <p:nvPr/>
        </p:nvSpPr>
        <p:spPr>
          <a:xfrm>
            <a:off x="4000500" y="1666875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2780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7805C"/>
                </a:solidFill>
                <a:latin typeface="Arial"/>
                <a:ea typeface="Arial"/>
                <a:cs typeface="Arial"/>
              </a:rPr>
              <a:t>1,533 млрд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8B6364-40F9-4FDC-943B-D34BDC0F7B0C}"/>
              </a:ext>
            </a:extLst>
          </p:cNvPr>
          <p:cNvSpPr>
            <a:spLocks noGrp="1"/>
          </p:cNvSpPr>
          <p:nvPr/>
        </p:nvSpPr>
        <p:spPr>
          <a:xfrm>
            <a:off x="4000500" y="2314575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фактическая GM2, KZT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5D666B8-5A33-4504-8987-8C28B5B9AE4E}"/>
              </a:ext>
            </a:extLst>
          </p:cNvPr>
          <p:cNvSpPr>
            <a:spLocks noGrp="1"/>
          </p:cNvSpPr>
          <p:nvPr/>
        </p:nvSpPr>
        <p:spPr>
          <a:xfrm>
            <a:off x="7620000" y="1666875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B646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6464A"/>
                </a:solidFill>
                <a:latin typeface="Arial"/>
                <a:ea typeface="Arial"/>
                <a:cs typeface="Arial"/>
              </a:rPr>
              <a:t>1,339 млрд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20C8536-69A3-448F-B164-7C9C1BEE83DC}"/>
              </a:ext>
            </a:extLst>
          </p:cNvPr>
          <p:cNvSpPr>
            <a:spLocks noGrp="1"/>
          </p:cNvSpPr>
          <p:nvPr/>
        </p:nvSpPr>
        <p:spPr>
          <a:xfrm>
            <a:off x="7620000" y="2314575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GM2 в симуляции, KZT</a:t>
            </a:r>
          </a:p>
        </p:txBody>
      </p:sp>
      <p:graphicFrame>
        <p:nvGraphicFramePr>
          <p:cNvPr id="25" name="Таблица 24"/>
          <p:cNvGraphicFramePr/>
          <p:nvPr/>
        </p:nvGraphicFramePr>
        <p:xfrm>
          <a:off x="666750" y="3476625"/>
          <a:ext cx="7239000" cy="2095500"/>
        </p:xfrm>
        <a:graphic>
          <a:graphicData uri="http://schemas.openxmlformats.org/drawingml/2006/table">
            <a:tbl>
              <a:tblPr firstRow="1" bandRow="1"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Факт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Симуляция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GM2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1 533 462 177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1 338 558 077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 GM2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−194 904 100 (−12,7%)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Доля GM2 &lt;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26,4%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15163B3-0DB5-44B9-8E4D-6BA88B9D9AFD}"/>
              </a:ext>
            </a:extLst>
          </p:cNvPr>
          <p:cNvSpPr>
            <a:spLocks noGrp="1"/>
          </p:cNvSpPr>
          <p:nvPr/>
        </p:nvSpPr>
        <p:spPr>
          <a:xfrm>
            <a:off x="8382000" y="3619500"/>
            <a:ext cx="28575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Симуляция фиксирует состав сделок, продажную цену и расходы. Она не моделирует реакцию клиента и не является причинной оценкой.</a:t>
            </a:r>
          </a:p>
        </p:txBody>
      </p:sp>
    </p:spTree>
    <p:extLst>
      <p:ext uri="{BB962C8B-B14F-4D97-AF65-F5344CB8AC3E}">
        <p14:creationId xmlns:p14="http://schemas.microsoft.com/office/powerpoint/2010/main" val="1856455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59C35F6-B9D8-49EA-97D7-2DC4DFBDC8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CA3730A-D635-460D-861B-CFFCCA88A660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МОДЕЛЬ · ВРЕМЕННОЙ СДВИГ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E6665DC-480E-4F39-A022-EDFC4969ED3B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В тесте снизились и цены, и отношение выкупа к рынку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DBF05E-7249-4098-BC27-C951C71D0FCC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6C90035-BBB7-43C1-BFD2-FEB15729246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7" name="Таблица 16"/>
          <p:cNvGraphicFramePr/>
          <p:nvPr/>
        </p:nvGraphicFramePr>
        <p:xfrm>
          <a:off x="666750" y="1714500"/>
          <a:ext cx="8572500" cy="2762250"/>
        </p:xfrm>
        <a:graphic>
          <a:graphicData uri="http://schemas.openxmlformats.org/drawingml/2006/table">
            <a:tbl>
              <a:tblPr firstRow="1" bandRow="1"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Средняя buy_price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5 024 700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4 367 114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−13,1%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Медиана buy_price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4 500 000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3 800 000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−15,6%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Медиана market_avg_price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5 945 215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5 389 093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−9,4%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Средняя midpoint модели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4 470 072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+2,4% к факту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108CB8F-6C28-4974-970A-A97DEEA268E9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8572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B646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6464A"/>
                </a:solidFill>
                <a:latin typeface="Arial"/>
                <a:ea typeface="Arial"/>
                <a:cs typeface="Arial"/>
              </a:rPr>
              <a:t>Рыночная цена снизилась слабее цены выкупа. month_idx улавливает тренд лишь частично.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B8C1D1B-F05E-43F6-964B-72F4EA5195CD}"/>
              </a:ext>
            </a:extLst>
          </p:cNvPr>
          <p:cNvSpPr>
            <a:spLocks noGrp="1"/>
          </p:cNvSpPr>
          <p:nvPr/>
        </p:nvSpPr>
        <p:spPr>
          <a:xfrm>
            <a:off x="9620250" y="1952625"/>
            <a:ext cx="1809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D892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8922E"/>
                </a:solidFill>
                <a:latin typeface="Arial"/>
                <a:ea typeface="Arial"/>
                <a:cs typeface="Arial"/>
              </a:rPr>
              <a:t>15 дней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FFA051-DB72-40B1-95FB-A853382CCF4F}"/>
              </a:ext>
            </a:extLst>
          </p:cNvPr>
          <p:cNvSpPr>
            <a:spLocks noGrp="1"/>
          </p:cNvSpPr>
          <p:nvPr/>
        </p:nvSpPr>
        <p:spPr>
          <a:xfrm>
            <a:off x="9620250" y="2600325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лаг созревания исхода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569CD34-80BA-4586-A730-E23ED5DA60AF}"/>
              </a:ext>
            </a:extLst>
          </p:cNvPr>
          <p:cNvSpPr>
            <a:spLocks noGrp="1"/>
          </p:cNvSpPr>
          <p:nvPr/>
        </p:nvSpPr>
        <p:spPr>
          <a:xfrm>
            <a:off x="9620250" y="3571875"/>
            <a:ext cx="1809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510"/>
          </a:bodyPr>
          <a:lstStyle/>
          <a:p>
            <a:pPr algn="l">
              <a:defRPr sz="33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4 недели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E2607EE-1429-4329-9611-A568247C8F90}"/>
              </a:ext>
            </a:extLst>
          </p:cNvPr>
          <p:cNvSpPr>
            <a:spLocks noGrp="1"/>
          </p:cNvSpPr>
          <p:nvPr/>
        </p:nvSpPr>
        <p:spPr>
          <a:xfrm>
            <a:off x="9620250" y="4219575"/>
            <a:ext cx="1809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rolling-окно мониторинга</a:t>
            </a:r>
          </a:p>
        </p:txBody>
      </p:sp>
    </p:spTree>
    <p:extLst>
      <p:ext uri="{BB962C8B-B14F-4D97-AF65-F5344CB8AC3E}">
        <p14:creationId xmlns:p14="http://schemas.microsoft.com/office/powerpoint/2010/main" val="376845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38F87A8-DEF5-411E-A089-2DD8BCA3AE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179F32-C619-4C8F-B752-24629E92A720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ЭКСПЕРИМЕНТЫ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5360A0E-86AD-48B5-AB4E-B1C905794739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LightGBM лидирует в сравнении четырех бустингов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593AEA5-A55D-44B4-ADB9-6668004AC53C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0D2E6D5-F054-49AF-B979-13BC00696F0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4" name="Таблица 13"/>
          <p:cNvGraphicFramePr/>
          <p:nvPr/>
        </p:nvGraphicFramePr>
        <p:xfrm>
          <a:off x="523875" y="1666875"/>
          <a:ext cx="11144250" cy="2619375"/>
        </p:xfrm>
        <a:graphic>
          <a:graphicData uri="http://schemas.openxmlformats.org/drawingml/2006/table">
            <a:tbl>
              <a:tblPr firstRow="1" bandRow="1"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Алгоритм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Покрытие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Ширина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 APE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GM2, млн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GM2 &lt; 0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HistGradientBoosting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38,32%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19,85%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12,42%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−191,6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26,68%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CatBoost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42,05%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20,24%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11,96%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−119,2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24,23%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42,84%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21,22%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11,93%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−2,6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22,56%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37,42%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19,88%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13,01%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−366,9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29,37%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340F7F2-2769-4FEF-8E84-EDE533ECE9F1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Все модели: q25/q75, один time-based split, 300 итераций/деревьев, learning rate 0,05. Гиперпараметры не оптимизировались.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96EACC4-38A2-4641-B5DB-57E779577684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B646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6464A"/>
                </a:solidFill>
                <a:latin typeface="Arial"/>
                <a:ea typeface="Arial"/>
                <a:cs typeface="Arial"/>
              </a:rPr>
              <a:t>Примечание: experiments/README.md содержит старое значение −194,9 млн для HistGradientBoosting; JSON-результат хранит −191,6 млн. В таблице использован JSON как машинный артефакт.</a:t>
            </a:r>
          </a:p>
        </p:txBody>
      </p:sp>
    </p:spTree>
    <p:extLst>
      <p:ext uri="{BB962C8B-B14F-4D97-AF65-F5344CB8AC3E}">
        <p14:creationId xmlns:p14="http://schemas.microsoft.com/office/powerpoint/2010/main" val="1117439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35B0C23-2256-4547-B7C0-68268242F8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AB4D0BB-6D93-4973-9FEA-F99018E7344C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FABB627-BCD7-4FCA-841D-75CDC00D5813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Сервис: latency, тесты и защитные ограничения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D43F09-F965-4A3B-AC64-5FF7E828897C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DC3D304-307F-4A05-B5CE-1E91591BFBA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2E31A84-CB3F-442F-B76D-50521B24CB3F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22,67 мс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B0F0889-A3AC-415C-9F72-91966FAFED90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p50 latency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3BDD6E8-8117-4BCF-9155-436057AFF925}"/>
              </a:ext>
            </a:extLst>
          </p:cNvPr>
          <p:cNvSpPr>
            <a:spLocks noGrp="1"/>
          </p:cNvSpPr>
          <p:nvPr/>
        </p:nvSpPr>
        <p:spPr>
          <a:xfrm>
            <a:off x="3714750" y="1714500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2780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7805C"/>
                </a:solidFill>
                <a:latin typeface="Arial"/>
                <a:ea typeface="Arial"/>
                <a:cs typeface="Arial"/>
              </a:rPr>
              <a:t>28,33 мс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64B73E3-F6F6-4DCE-BF01-C0D1ACC5DC10}"/>
              </a:ext>
            </a:extLst>
          </p:cNvPr>
          <p:cNvSpPr>
            <a:spLocks noGrp="1"/>
          </p:cNvSpPr>
          <p:nvPr/>
        </p:nvSpPr>
        <p:spPr>
          <a:xfrm>
            <a:off x="3714750" y="2362200"/>
            <a:ext cx="2667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p95 latency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3E75B63-7715-4A24-9EE9-6020626A5B4D}"/>
              </a:ext>
            </a:extLst>
          </p:cNvPr>
          <p:cNvSpPr>
            <a:spLocks noGrp="1"/>
          </p:cNvSpPr>
          <p:nvPr/>
        </p:nvSpPr>
        <p:spPr>
          <a:xfrm>
            <a:off x="6762750" y="1714500"/>
            <a:ext cx="2381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2365A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5A8"/>
                </a:solidFill>
                <a:latin typeface="Arial"/>
                <a:ea typeface="Arial"/>
                <a:cs typeface="Arial"/>
              </a:rPr>
              <a:t>31,35 мс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E8F104E-37FF-40AD-9325-38EC86CF2E99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максимум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71332D3-1E10-4249-8EA1-E9BE2FA460F1}"/>
              </a:ext>
            </a:extLst>
          </p:cNvPr>
          <p:cNvSpPr>
            <a:spLocks noGrp="1"/>
          </p:cNvSpPr>
          <p:nvPr/>
        </p:nvSpPr>
        <p:spPr>
          <a:xfrm>
            <a:off x="9620250" y="1714500"/>
            <a:ext cx="1714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300" b="1">
                <a:solidFill>
                  <a:srgbClr val="D8922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8922E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B128D39-64EC-403C-AB5D-CA72E4BC35DC}"/>
              </a:ext>
            </a:extLst>
          </p:cNvPr>
          <p:cNvSpPr>
            <a:spLocks noGrp="1"/>
          </p:cNvSpPr>
          <p:nvPr/>
        </p:nvSpPr>
        <p:spPr>
          <a:xfrm>
            <a:off x="9620250" y="2362200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warm-запросов</a:t>
            </a:r>
          </a:p>
        </p:txBody>
      </p:sp>
      <p:graphicFrame>
        <p:nvGraphicFramePr>
          <p:cNvPr id="29" name="Таблица 28"/>
          <p:cNvGraphicFramePr/>
          <p:nvPr/>
        </p:nvGraphicFramePr>
        <p:xfrm>
          <a:off x="666750" y="3476625"/>
          <a:ext cx="7810500" cy="2381253"/>
        </p:xfrm>
        <a:graphic>
          <a:graphicData uri="http://schemas.openxmlformats.org/drawingml/2006/table">
            <a:tbl>
              <a:tblPr firstRow="1" bandRow="1"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17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POST /price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упорядоченная положительная вилка, KZT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Пустой запрос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422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Leakage-поля в запросе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422 extra_forbidden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Отрицательный пробег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422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Запрещенные признаки в артефакте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Набор тестов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11 passed за 7,59 с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C682152-D3AE-4248-9FDD-A1DEBECDF6A6}"/>
              </a:ext>
            </a:extLst>
          </p:cNvPr>
          <p:cNvSpPr>
            <a:spLocks noGrp="1"/>
          </p:cNvSpPr>
          <p:nvPr/>
        </p:nvSpPr>
        <p:spPr>
          <a:xfrm>
            <a:off x="8858250" y="3714750"/>
            <a:ext cx="257175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Метод latency: FastAPI TestClient, последовательные warm-запросы на локальной машине.</a:t>
            </a:r>
          </a:p>
        </p:txBody>
      </p:sp>
    </p:spTree>
    <p:extLst>
      <p:ext uri="{BB962C8B-B14F-4D97-AF65-F5344CB8AC3E}">
        <p14:creationId xmlns:p14="http://schemas.microsoft.com/office/powerpoint/2010/main" val="1204258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04ED50A-F116-45F7-8772-80CA1E604F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8A8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025BA12-21ED-402A-8ACB-0936C6D9D08F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14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8A8A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32F86C1-07EF-430E-B1B7-8669A100800C}"/>
              </a:ext>
            </a:extLst>
          </p:cNvPr>
          <p:cNvSpPr>
            <a:spLocks noGrp="1"/>
          </p:cNvSpPr>
          <p:nvPr/>
        </p:nvSpPr>
        <p:spPr>
          <a:xfrm>
            <a:off x="514350" y="619125"/>
            <a:ext cx="1114425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Пороговые значения эксплуатации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0B2BEC-8B92-4D8A-BF39-092BDAC35C89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11144250" cy="19050"/>
          </a:xfrm>
          <a:prstGeom prst="rect">
            <a:avLst/>
          </a:prstGeom>
          <a:solidFill>
            <a:srgbClr val="D7E0EA"/>
          </a:solidFill>
          <a:ln w="0"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846E76F-9CCD-43FC-89DE-874442B5B4E0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defRPr sz="900" b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08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14" name="Таблица 13"/>
          <p:cNvGraphicFramePr/>
          <p:nvPr/>
        </p:nvGraphicFramePr>
        <p:xfrm>
          <a:off x="666750" y="1476375"/>
          <a:ext cx="7429500" cy="4571996"/>
        </p:xfrm>
        <a:graphic>
          <a:graphicData uri="http://schemas.openxmlformats.org/drawingml/2006/table">
            <a:tbl>
              <a:tblPr firstRow="1" bandRow="1"/>
              <a:tblGrid>
                <a:gridCol w="47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Сигнал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Порог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Покрытие вилкой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&lt; 40% два недельных окна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Абс. медианное смещение midpoint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&gt; 5%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buy_price / market_avg_price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 &gt; 10% от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PSI ключевого признака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&gt; 0,2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Неизвестные категории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&gt;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HTTP 5xx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&gt; 1%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p95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&gt; 100 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Неустойчивый срез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n &lt; 30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Плановое переобучение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ежемесячно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Оценка качества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rolling 4 недели после 15 дней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8D39D84-8AD4-4F9D-AC0D-8E79F352CC79}"/>
              </a:ext>
            </a:extLst>
          </p:cNvPr>
          <p:cNvSpPr>
            <a:spLocks noGrp="1"/>
          </p:cNvSpPr>
          <p:nvPr/>
        </p:nvSpPr>
        <p:spPr>
          <a:xfrm>
            <a:off x="8572500" y="2047875"/>
            <a:ext cx="2667000" cy="1952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Стартовый режим: shadow mode. Новая версия выходит только после time-based backtest, тестов утечки/API и проверки сценарной GM2.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E60C77A-535B-4588-9EC9-EB8071BAA733}"/>
              </a:ext>
            </a:extLst>
          </p:cNvPr>
          <p:cNvSpPr>
            <a:spLocks noGrp="1"/>
          </p:cNvSpPr>
          <p:nvPr/>
        </p:nvSpPr>
        <p:spPr>
          <a:xfrm>
            <a:off x="8572500" y="4524375"/>
            <a:ext cx="266700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086"/>
                </a:solidFill>
                <a:latin typeface="Arial"/>
                <a:ea typeface="Arial"/>
                <a:cs typeface="Arial"/>
              </a:rPr>
              <a:t>A/B-тест: рандомизация по заявкам или филиал-дням, если прайсеры влияют друг на друга.</a:t>
            </a:r>
          </a:p>
        </p:txBody>
      </p:sp>
    </p:spTree>
    <p:extLst>
      <p:ext uri="{BB962C8B-B14F-4D97-AF65-F5344CB8AC3E}">
        <p14:creationId xmlns:p14="http://schemas.microsoft.com/office/powerpoint/2010/main" val="15850938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2479</Words>
  <Application>Microsoft Office PowerPoint</Application>
  <DocSecurity>0</DocSecurity>
  <PresentationFormat>Широкоэкранный</PresentationFormat>
  <Paragraphs>690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Salimzhan Shaymerdenov</cp:lastModifiedBy>
  <cp:revision>1</cp:revision>
  <dcterms:created xsi:type="dcterms:W3CDTF">2026-09-17T06:50:59Z</dcterms:created>
  <dcterms:modified xsi:type="dcterms:W3CDTF">2026-09-17T06:59:30Z</dcterms:modified>
</cp:coreProperties>
</file>